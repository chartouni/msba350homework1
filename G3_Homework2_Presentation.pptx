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Group 3 - Homework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Stock Returns, Volatility, Inflation Analysis &amp; Cryptocurrency Bar Sampling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Simple vs Log Returns Analysis</a:t>
            </a:r>
          </a:p>
          <a:p>
            <a:pPr>
              <a:defRPr sz="1800"/>
            </a:pPr>
            <a:r>
              <a:t>2. Volatility Analysis &amp; Market Risk</a:t>
            </a:r>
          </a:p>
          <a:p>
            <a:pPr>
              <a:defRPr sz="1800"/>
            </a:pPr>
            <a:r>
              <a:t>3. Inflation Impact on Real Returns</a:t>
            </a:r>
          </a:p>
          <a:p>
            <a:pPr>
              <a:defRPr sz="1800"/>
            </a:pPr>
            <a:r>
              <a:t>4. Cryptocurrency Bar Sampling Methods</a:t>
            </a:r>
          </a:p>
          <a:p>
            <a:pPr>
              <a:defRPr sz="1800"/>
            </a:pPr>
            <a:r>
              <a:t>5. Key Findings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Simple vs Log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What are Simple and Log Returns?</a:t>
            </a:r>
          </a:p>
          <a:p>
            <a:pPr lvl="1">
              <a:defRPr sz="1800"/>
            </a:pPr>
            <a:r>
              <a:t>Simple Return: R_t = (P_t - P_{t-1}) / P_{t-1}</a:t>
            </a:r>
          </a:p>
          <a:p>
            <a:pPr lvl="2">
              <a:defRPr sz="1800"/>
            </a:pPr>
            <a:r>
              <a:t>Intuitive: How much did I gain/lose?</a:t>
            </a:r>
          </a:p>
          <a:p>
            <a:pPr lvl="1">
              <a:defRPr sz="1800"/>
            </a:pPr>
            <a:r>
              <a:t>Log Return: r_t = ln(P_t / P_{t-1})</a:t>
            </a:r>
          </a:p>
          <a:p>
            <a:pPr lvl="2">
              <a:defRPr sz="1800"/>
            </a:pPr>
            <a:r>
              <a:t>Better properties: Time-additive, more symmetric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Question: Does the choice matter for daily stock data?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Returns Statistics - Key Stocks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MSFT Simple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MSFT Log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LLY Simple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LLY Log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0.1169%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0.0930%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-14.74%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-15.95%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-11.66%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-12.40%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14.57%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Finding: Nearly Perfect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All 10 stocks show correlation &gt; 0.998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are they so similar?</a:t>
            </a:r>
          </a:p>
          <a:p>
            <a:pPr lvl="1">
              <a:defRPr sz="1800"/>
            </a:pPr>
            <a:r>
              <a:t>For small returns: ln(1+R) ≈ R</a:t>
            </a:r>
          </a:p>
          <a:p>
            <a:pPr lvl="1">
              <a:defRPr sz="1800"/>
            </a:pPr>
            <a:r>
              <a:t>Daily returns are typically small</a:t>
            </a:r>
          </a:p>
          <a:p>
            <a:pPr lvl="1">
              <a:defRPr sz="1800"/>
            </a:pPr>
            <a:r>
              <a:t>Divergence only at extreme movements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Practical Implication:</a:t>
            </a:r>
          </a:p>
          <a:p>
            <a:pPr lvl="1">
              <a:defRPr sz="1800"/>
            </a:pPr>
            <a:r>
              <a:t>Choice matters less for daily data</a:t>
            </a:r>
          </a:p>
          <a:p>
            <a:pPr lvl="1">
              <a:defRPr sz="1800"/>
            </a:pPr>
            <a:r>
              <a:t>Log returns preferred for statistical properties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Implications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Return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Simple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Cross-sectional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Additive across assets in portfolio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 series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Additive across time, symmetric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 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Better statistical properties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Volatility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Annualized Volatility Formula:</a:t>
            </a:r>
          </a:p>
          <a:p>
            <a:pPr lvl="1">
              <a:defRPr sz="1800"/>
            </a:pPr>
            <a:r>
              <a:t>σ_annual = σ_daily × √252</a:t>
            </a:r>
          </a:p>
          <a:p>
            <a:pPr lvl="2">
              <a:defRPr sz="1800"/>
            </a:pPr>
            <a:r>
              <a:t>252 = trading days per year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Findings:</a:t>
            </a:r>
          </a:p>
          <a:p>
            <a:pPr lvl="1">
              <a:defRPr sz="1800"/>
            </a:pPr>
            <a:r>
              <a:t>Wide range: 18% to 40%</a:t>
            </a:r>
          </a:p>
          <a:p>
            <a:pPr lvl="1">
              <a:defRPr sz="1800"/>
            </a:pPr>
            <a:r>
              <a:t>COVID-19 caused 3-4x spikes</a:t>
            </a:r>
          </a:p>
          <a:p>
            <a:pPr lvl="1">
              <a:defRPr sz="1800"/>
            </a:pPr>
            <a:r>
              <a:t>Average portfolio: 29%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Annualized Volatility Rankings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407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Volatility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Consumer Staples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38.62%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Technology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Biotech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Airlines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Aerospace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Consumer Staples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Technology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Retail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Consumer Staples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Banking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Surprising Finding: KO Highest Volatility?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Coca-Cola (KO) - 40.55% volatility</a:t>
            </a:r>
          </a:p>
          <a:p>
            <a:pPr lvl="1">
              <a:defRPr sz="1800"/>
            </a:pPr>
            <a:r>
              <a:t>Traditionally viewed as 'safe' consumer staple</a:t>
            </a:r>
          </a:p>
          <a:p>
            <a:pPr lvl="1">
              <a:defRPr sz="1800"/>
            </a:pPr>
            <a:r>
              <a:t>Challenges common perception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Possible Reasons:</a:t>
            </a:r>
          </a:p>
          <a:p>
            <a:pPr lvl="1">
              <a:defRPr sz="1800"/>
            </a:pPr>
            <a:r>
              <a:t>Market shifts in consumer preferences</a:t>
            </a:r>
          </a:p>
          <a:p>
            <a:pPr lvl="1">
              <a:defRPr sz="1800"/>
            </a:pPr>
            <a:r>
              <a:t>Health-conscious alternatives competition</a:t>
            </a:r>
          </a:p>
          <a:p>
            <a:pPr lvl="1">
              <a:defRPr sz="1800"/>
            </a:pPr>
            <a:r>
              <a:t>Currency fluctuations (global operations)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(KeyCorp) - Lowest at 18.15%</a:t>
            </a:r>
          </a:p>
          <a:p>
            <a:pPr lvl="1">
              <a:defRPr sz="1800"/>
            </a:pPr>
            <a:r>
              <a:t>Regional bank with stable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Rolling Volatility: COVID-19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March 2020 Volatility Spikes:</a:t>
            </a:r>
          </a:p>
          <a:p>
            <a:pPr lvl="1">
              <a:defRPr sz="1800"/>
            </a:pPr>
            <a:r>
              <a:t>MSFT: 100% annualized (3.7x normal)</a:t>
            </a:r>
          </a:p>
          <a:p>
            <a:pPr lvl="1">
              <a:defRPr sz="1800"/>
            </a:pPr>
            <a:r>
              <a:t>KO: 80% annualized (4.4x normal)</a:t>
            </a:r>
          </a:p>
          <a:p>
            <a:pPr lvl="1">
              <a:defRPr sz="1800"/>
            </a:pPr>
            <a:r>
              <a:t>META: 85% annualized (3.1x normal)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2022 Tech Selloff:</a:t>
            </a:r>
          </a:p>
          <a:p>
            <a:pPr lvl="1">
              <a:defRPr sz="1800"/>
            </a:pPr>
            <a:r>
              <a:t>META: 40-50% sustained volatility</a:t>
            </a:r>
          </a:p>
          <a:p>
            <a:pPr lvl="1">
              <a:defRPr sz="1800"/>
            </a:pPr>
            <a:r>
              <a:t>Related to metaverse concerns &amp; Fed rate hikes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Insight: Volatility is NOT constant - it clusters!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Implications by Risk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 Risk, High Potential (35-40% volatility):</a:t>
            </a:r>
          </a:p>
          <a:p>
            <a:pPr lvl="1">
              <a:defRPr sz="1800"/>
            </a:pPr>
            <a:r>
              <a:t>KO, MSFT, LLY</a:t>
            </a:r>
          </a:p>
          <a:p>
            <a:pPr lvl="2">
              <a:defRPr sz="1800"/>
            </a:pPr>
            <a:r>
              <a:t>Suitable for: Aggressive growth investors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Moderate Risk (27-29% volatility):</a:t>
            </a:r>
          </a:p>
          <a:p>
            <a:pPr lvl="1">
              <a:defRPr sz="1800"/>
            </a:pPr>
            <a:r>
              <a:t>LUV, LMT, KHC, META</a:t>
            </a:r>
          </a:p>
          <a:p>
            <a:pPr lvl="2">
              <a:defRPr sz="1800"/>
            </a:pPr>
            <a:r>
              <a:t>Suitable for: Balanced portfolios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Lower Risk (18-23% volatility):</a:t>
            </a:r>
          </a:p>
          <a:p>
            <a:pPr lvl="1">
              <a:defRPr sz="1800"/>
            </a:pPr>
            <a:r>
              <a:t>LOW, MCD, KEY</a:t>
            </a:r>
          </a:p>
          <a:p>
            <a:pPr lvl="2">
              <a:defRPr sz="1800"/>
            </a:pPr>
            <a:r>
              <a:t>Suitable for: Conservative, income-focused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Inflation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CPI Growth (2015-2025):</a:t>
            </a:r>
          </a:p>
          <a:p>
            <a:pPr lvl="1">
              <a:defRPr sz="1800"/>
            </a:pPr>
            <a:r>
              <a:t>Starting: CPI = 237.24</a:t>
            </a:r>
          </a:p>
          <a:p>
            <a:pPr lvl="1">
              <a:defRPr sz="1800"/>
            </a:pPr>
            <a:r>
              <a:t>Ending: CPI = 307.81</a:t>
            </a:r>
          </a:p>
          <a:p>
            <a:pPr lvl="1">
              <a:defRPr sz="1800"/>
            </a:pPr>
            <a:r>
              <a:t>Total Increase: 29.75%</a:t>
            </a:r>
          </a:p>
          <a:p>
            <a:pPr lvl="1">
              <a:defRPr sz="1800"/>
            </a:pPr>
            <a:r>
              <a:t>Annualized: ~2.5% per year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Question:</a:t>
            </a:r>
          </a:p>
          <a:p>
            <a:pPr>
              <a:defRPr sz="1800"/>
            </a:pPr>
            <a:r>
              <a:t>How much did inflation erode investment returns?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Returns: Nominal vs Real (2015-2025)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407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Nominal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Inflation Impact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+1,233%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+938%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-296%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+954%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+720%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-234%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+698%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+521%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-177%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-92%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-90%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-65%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-53%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-40%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-23%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Insights from Inflation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MSFT: The Winner</a:t>
            </a:r>
          </a:p>
          <a:p>
            <a:pPr lvl="1">
              <a:defRPr sz="1800"/>
            </a:pPr>
            <a:r>
              <a:t>Nominal: +1,233% | Real: +938%</a:t>
            </a:r>
          </a:p>
          <a:p>
            <a:pPr lvl="1">
              <a:defRPr sz="1800"/>
            </a:pPr>
            <a:r>
              <a:t>Tech growth &gt;&gt; inflation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LUV: The Hidden Loser</a:t>
            </a:r>
          </a:p>
          <a:p>
            <a:pPr lvl="1">
              <a:defRPr sz="1800"/>
            </a:pPr>
            <a:r>
              <a:t>Nominal: +4% | Real: -19%</a:t>
            </a:r>
          </a:p>
          <a:p>
            <a:pPr lvl="1">
              <a:defRPr sz="1800"/>
            </a:pPr>
            <a:r>
              <a:t>Investors LOST purchasing power!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KHC: The Disaster</a:t>
            </a:r>
          </a:p>
          <a:p>
            <a:pPr lvl="1">
              <a:defRPr sz="1800"/>
            </a:pPr>
            <a:r>
              <a:t>Nominal: -40% | Real: -53%</a:t>
            </a:r>
          </a:p>
          <a:p>
            <a:pPr lvl="1">
              <a:defRPr sz="1800"/>
            </a:pPr>
            <a:r>
              <a:t>Inflation made bad investment worse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Real Returns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Real Returns = What Actually Matters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Retirement Planning:</a:t>
            </a:r>
          </a:p>
          <a:p>
            <a:pPr lvl="1">
              <a:defRPr sz="1800"/>
            </a:pPr>
            <a:r>
              <a:t>Need real returns to maintain purchasing power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Investment Selection:</a:t>
            </a:r>
          </a:p>
          <a:p>
            <a:pPr lvl="1">
              <a:defRPr sz="1800"/>
            </a:pPr>
            <a:r>
              <a:t>5% return with 3% inflation = only 2% real gain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Long-term Wealth:</a:t>
            </a:r>
          </a:p>
          <a:p>
            <a:pPr lvl="1">
              <a:defRPr sz="1800"/>
            </a:pPr>
            <a:r>
              <a:t>Nominal gains are illusory if inflation keeps pace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Portfolio Lesson:</a:t>
            </a:r>
          </a:p>
          <a:p>
            <a:pPr lvl="1">
              <a:defRPr sz="1800"/>
            </a:pPr>
            <a:r>
              <a:t>Growth stocks (MSFT, LLY, META) beat inflation</a:t>
            </a:r>
          </a:p>
          <a:p>
            <a:pPr lvl="1">
              <a:defRPr sz="1800"/>
            </a:pPr>
            <a:r>
              <a:t>Defensive stocks (KO, LUV, KEY) struggled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Cryptocurrency Bar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 with Time Bars:</a:t>
            </a:r>
          </a:p>
          <a:p>
            <a:pPr lvl="1">
              <a:defRPr sz="1800"/>
            </a:pPr>
            <a:r>
              <a:t>Fixed time intervals (1 min, 1 hour, 1 day)</a:t>
            </a:r>
          </a:p>
          <a:p>
            <a:pPr lvl="1">
              <a:defRPr sz="1800"/>
            </a:pPr>
            <a:r>
              <a:t>Ignores market activity levels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Solution: Information-Driven Sampling</a:t>
            </a:r>
          </a:p>
          <a:p>
            <a:pPr lvl="1">
              <a:defRPr sz="1800"/>
            </a:pPr>
            <a:r>
              <a:t>Sample based on market events, not time</a:t>
            </a:r>
          </a:p>
          <a:p>
            <a:pPr lvl="1">
              <a:defRPr sz="1800"/>
            </a:pPr>
            <a:r>
              <a:t>More samples during high activity</a:t>
            </a:r>
          </a:p>
          <a:p>
            <a:pPr lvl="1">
              <a:defRPr sz="1800"/>
            </a:pPr>
            <a:r>
              <a:t>Better statistical properties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Group 3 Cryptocurrencies: BNB, DOGE, DOT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Bar Sampling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Bar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Sampling Trigger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Price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price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Volatility events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# of trades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 activity/liquidity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Volume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volume traded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Participation level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Dollar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 $ value traded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Economic significance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Cryptocurrency Analysis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Crypto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Avg Price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Price Bars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Tick Bars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Volume Bars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Dollar Bars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$884.80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BNB (Binance Coin) - Most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Price Bars: 27 (fewest)</a:t>
            </a:r>
          </a:p>
          <a:p>
            <a:pPr lvl="1">
              <a:defRPr sz="1800"/>
            </a:pPr>
            <a:r>
              <a:t>Price Range: $750 - $960 (22%)</a:t>
            </a:r>
          </a:p>
          <a:p>
            <a:pPr lvl="1">
              <a:defRPr sz="1800"/>
            </a:pPr>
            <a:r>
              <a:t>Indicates: Very stable price movement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Observation:</a:t>
            </a:r>
          </a:p>
          <a:p>
            <a:pPr lvl="1">
              <a:defRPr sz="1800"/>
            </a:pPr>
            <a:r>
              <a:t>27 vs ~96 for other bar types</a:t>
            </a:r>
          </a:p>
          <a:p>
            <a:pPr lvl="1">
              <a:defRPr sz="1800"/>
            </a:pPr>
            <a:r>
              <a:t>High volume within narrow price bands</a:t>
            </a:r>
          </a:p>
          <a:p>
            <a:pPr lvl="1">
              <a:defRPr sz="1800"/>
            </a:pPr>
            <a:r>
              <a:t>Large concentrated moves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Investment Profile:</a:t>
            </a:r>
          </a:p>
          <a:p>
            <a:pPr lvl="1">
              <a:defRPr sz="1800"/>
            </a:pPr>
            <a:r>
              <a:t>Lower risk, institutional behavior</a:t>
            </a:r>
          </a:p>
          <a:p>
            <a:pPr lvl="1">
              <a:defRPr sz="1800"/>
            </a:pPr>
            <a:r>
              <a:t>Exchange token stability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DOGE (Dogecoin) - Most Volatile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Price Bars: 69 (2.5x more than BNB)</a:t>
            </a:r>
          </a:p>
          <a:p>
            <a:pPr lvl="1">
              <a:defRPr sz="1800"/>
            </a:pPr>
            <a:r>
              <a:t>Price Range: $0.09 - $0.16 (54%)</a:t>
            </a:r>
          </a:p>
          <a:p>
            <a:pPr lvl="1">
              <a:defRPr sz="1800"/>
            </a:pPr>
            <a:r>
              <a:t>Indicates: High volatility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Observation:</a:t>
            </a:r>
          </a:p>
          <a:p>
            <a:pPr lvl="1">
              <a:defRPr sz="1800"/>
            </a:pPr>
            <a:r>
              <a:t>Meme coin showing frequent price swings</a:t>
            </a:r>
          </a:p>
          <a:p>
            <a:pPr lvl="1">
              <a:defRPr sz="1800"/>
            </a:pPr>
            <a:r>
              <a:t>Similar activity levels as others</a:t>
            </a:r>
          </a:p>
          <a:p>
            <a:pPr lvl="1">
              <a:defRPr sz="1800"/>
            </a:pPr>
            <a:r>
              <a:t>Retail-driven, sentiment-based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Investment Profile:</a:t>
            </a:r>
          </a:p>
          <a:p>
            <a:pPr lvl="1">
              <a:defRPr sz="1800"/>
            </a:pPr>
            <a:r>
              <a:t>High risk, speculative</a:t>
            </a:r>
          </a:p>
          <a:p>
            <a:pPr lvl="1">
              <a:defRPr sz="1800"/>
            </a:pPr>
            <a:r>
              <a:t>Social media sensitive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DOT (Polkadot) - Moderate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Price Bars: 86 (moderate)</a:t>
            </a:r>
          </a:p>
          <a:p>
            <a:pPr lvl="1">
              <a:defRPr sz="1800"/>
            </a:pPr>
            <a:r>
              <a:t>Price Range: $1.40 - $2.34 (48%)</a:t>
            </a:r>
          </a:p>
          <a:p>
            <a:pPr lvl="1">
              <a:defRPr sz="1800"/>
            </a:pPr>
            <a:r>
              <a:t>Indicates: Balanced volatility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Observation:</a:t>
            </a:r>
          </a:p>
          <a:p>
            <a:pPr lvl="1">
              <a:defRPr sz="1800"/>
            </a:pPr>
            <a:r>
              <a:t>Middle ground between BNB and DOGE</a:t>
            </a:r>
          </a:p>
          <a:p>
            <a:pPr lvl="1">
              <a:defRPr sz="1800"/>
            </a:pPr>
            <a:r>
              <a:t>More stable than meme coins</a:t>
            </a:r>
          </a:p>
          <a:p>
            <a:pPr lvl="1">
              <a:defRPr sz="1800"/>
            </a:pPr>
            <a:r>
              <a:t>More volatile than exchange tokens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Investment Profile:</a:t>
            </a:r>
          </a:p>
          <a:p>
            <a:pPr lvl="1">
              <a:defRPr sz="1800"/>
            </a:pPr>
            <a:r>
              <a:t>Medium risk</a:t>
            </a:r>
          </a:p>
          <a:p>
            <a:pPr lvl="1">
              <a:defRPr sz="1800"/>
            </a:pPr>
            <a:r>
              <a:t>Mix of retail and institutional</a:t>
            </a:r>
          </a:p>
          <a:p>
            <a:pPr lvl="1">
              <a:defRPr sz="1800"/>
            </a:pPr>
            <a:r>
              <a:t>Project fundamentals matter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Price Bars Reveal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Volatility Ranking (from 3,000 hourly bars):</a:t>
            </a:r>
          </a:p>
          <a:p>
            <a:pPr>
              <a:defRPr sz="1800"/>
            </a:pPr>
          </a:p>
          <a:p>
            <a:pPr lvl="1">
              <a:defRPr sz="2000"/>
            </a:pPr>
            <a:r>
              <a:t>BNB: 27 price bars → MOST STABLE ✓</a:t>
            </a:r>
          </a:p>
          <a:p>
            <a:pPr lvl="1">
              <a:defRPr sz="2000"/>
            </a:pPr>
            <a:r>
              <a:t>DOGE: 69 price bars → MODERATE-HIGH</a:t>
            </a:r>
          </a:p>
          <a:p>
            <a:pPr lvl="1">
              <a:defRPr sz="2000"/>
            </a:pPr>
            <a:r>
              <a:t>DOT: 86 price bars → HIGHEST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Surprising Finding:</a:t>
            </a:r>
          </a:p>
          <a:p>
            <a:pPr lvl="1">
              <a:defRPr sz="1800"/>
            </a:pPr>
            <a:r>
              <a:t>All had ~95 tick/volume/dollar bars</a:t>
            </a:r>
          </a:p>
          <a:p>
            <a:pPr lvl="1">
              <a:defRPr sz="1800"/>
            </a:pPr>
            <a:r>
              <a:t>Similar trading activity levels</a:t>
            </a:r>
          </a:p>
          <a:p>
            <a:pPr lvl="1">
              <a:defRPr sz="1800"/>
            </a:pPr>
            <a:r>
              <a:t>But vastly different price stability!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Implication: 3x difference in bar counts = 3x difference in volatility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All cryptos showed NEGATIVE returns:</a:t>
            </a:r>
          </a:p>
          <a:p>
            <a:pPr lvl="1">
              <a:defRPr sz="1800"/>
            </a:pPr>
            <a:r>
              <a:t>BNB: -0.09% to -0.25%</a:t>
            </a:r>
          </a:p>
          <a:p>
            <a:pPr lvl="1">
              <a:defRPr sz="1800"/>
            </a:pPr>
            <a:r>
              <a:t>DOGE: -0.22% to -0.31%</a:t>
            </a:r>
          </a:p>
          <a:p>
            <a:pPr lvl="1">
              <a:defRPr sz="1800"/>
            </a:pPr>
            <a:r>
              <a:t>DOT: -0.15% to -0.17%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Market Context:</a:t>
            </a:r>
          </a:p>
          <a:p>
            <a:pPr lvl="1">
              <a:defRPr sz="1800"/>
            </a:pPr>
            <a:r>
              <a:t>Data: Last ~4 months</a:t>
            </a:r>
          </a:p>
          <a:p>
            <a:pPr lvl="1">
              <a:defRPr sz="1800"/>
            </a:pPr>
            <a:r>
              <a:t>Bearish crypto market period captured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Distribution Quality:</a:t>
            </a:r>
          </a:p>
          <a:p>
            <a:pPr lvl="1">
              <a:defRPr sz="1800"/>
            </a:pPr>
            <a:r>
              <a:t>Dollar bars: Most normal distributions</a:t>
            </a:r>
          </a:p>
          <a:p>
            <a:pPr lvl="1">
              <a:defRPr sz="1800"/>
            </a:pPr>
            <a:r>
              <a:t>Best for statistical modeling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Type Comparison: Statistical Properties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Bar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Normal Distribution?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ML Suitability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i.i.d. Properties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Price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Often bimodal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Weak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Somewhat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Volume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Dollar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✅✅ 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 for Trading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 Price Bars when:</a:t>
            </a:r>
          </a:p>
          <a:p>
            <a:pPr lvl="1">
              <a:defRPr sz="1800"/>
            </a:pPr>
            <a:r>
              <a:t>Setting stop-losses based on price movement</a:t>
            </a:r>
          </a:p>
          <a:p>
            <a:pPr lvl="1">
              <a:defRPr sz="1800"/>
            </a:pPr>
            <a:r>
              <a:t>Comparing volatility across assets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 Tick Bars when:</a:t>
            </a:r>
          </a:p>
          <a:p>
            <a:pPr lvl="1">
              <a:defRPr sz="1800"/>
            </a:pPr>
            <a:r>
              <a:t>High-frequency trading</a:t>
            </a:r>
          </a:p>
          <a:p>
            <a:pPr lvl="1">
              <a:defRPr sz="1800"/>
            </a:pPr>
            <a:r>
              <a:t>Detecting unusual activity patterns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 Volume Bars when:</a:t>
            </a:r>
          </a:p>
          <a:p>
            <a:pPr lvl="1">
              <a:defRPr sz="1800"/>
            </a:pPr>
            <a:r>
              <a:t>Volume-based strategies (VWAP)</a:t>
            </a:r>
          </a:p>
          <a:p>
            <a:pPr lvl="1">
              <a:defRPr sz="1800"/>
            </a:pPr>
            <a:r>
              <a:t>Identifying institutional flows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 Dollar Bars when:</a:t>
            </a:r>
          </a:p>
          <a:p>
            <a:pPr lvl="1">
              <a:defRPr sz="1800"/>
            </a:pPr>
            <a:r>
              <a:t>Building ML models</a:t>
            </a:r>
          </a:p>
          <a:p>
            <a:pPr lvl="1">
              <a:defRPr sz="1800"/>
            </a:pPr>
            <a:r>
              <a:t>Professional algorithmic trading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Findings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Returns Analysis:</a:t>
            </a:r>
          </a:p>
          <a:p>
            <a:pPr lvl="1">
              <a:defRPr sz="1800"/>
            </a:pPr>
            <a:r>
              <a:t>Simple ≈ Log returns (correlation &gt;0.998)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Volatility Analysis:</a:t>
            </a:r>
          </a:p>
          <a:p>
            <a:pPr lvl="1">
              <a:defRPr sz="1800"/>
            </a:pPr>
            <a:r>
              <a:t>Range: 18% (KEY) to 40% (KO)</a:t>
            </a:r>
          </a:p>
          <a:p>
            <a:pPr lvl="1">
              <a:defRPr sz="1800"/>
            </a:pPr>
            <a:r>
              <a:t>COVID-19: 3-4x volatility spikes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Inflation Impact:</a:t>
            </a:r>
          </a:p>
          <a:p>
            <a:pPr lvl="1">
              <a:defRPr sz="1800"/>
            </a:pPr>
            <a:r>
              <a:t>CPI +29.75% over 10 years</a:t>
            </a:r>
          </a:p>
          <a:p>
            <a:pPr lvl="1">
              <a:defRPr sz="1800"/>
            </a:pPr>
            <a:r>
              <a:t>Eroded 40-296% of nominal gains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Cryptocurrency Bars:</a:t>
            </a:r>
          </a:p>
          <a:p>
            <a:pPr lvl="1">
              <a:defRPr sz="1800"/>
            </a:pPr>
            <a:r>
              <a:t>Price bars reveal volatility (27 vs 86)</a:t>
            </a:r>
          </a:p>
          <a:p>
            <a:pPr lvl="1">
              <a:defRPr sz="1800"/>
            </a:pPr>
            <a:r>
              <a:t>Dollar bars best for 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Insights: Winners &amp; Losers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Best Performers (2015-2025):</a:t>
            </a:r>
          </a:p>
          <a:p>
            <a:pPr lvl="1">
              <a:defRPr sz="1800"/>
            </a:pPr>
            <a:r>
              <a:t>1. MSFT: +1,233% nominal, +938% real</a:t>
            </a:r>
          </a:p>
          <a:p>
            <a:pPr lvl="1">
              <a:defRPr sz="1800"/>
            </a:pPr>
            <a:r>
              <a:t>2. LLY: +954% nominal, +720% real</a:t>
            </a:r>
          </a:p>
          <a:p>
            <a:pPr lvl="1">
              <a:defRPr sz="1800"/>
            </a:pPr>
            <a:r>
              <a:t>3. META: +698% nominal, +521% real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Worst Performers:</a:t>
            </a:r>
          </a:p>
          <a:p>
            <a:pPr lvl="1">
              <a:defRPr sz="1800"/>
            </a:pPr>
            <a:r>
              <a:t>1. KHC: -40% nominal, -53% real</a:t>
            </a:r>
          </a:p>
          <a:p>
            <a:pPr lvl="1">
              <a:defRPr sz="1800"/>
            </a:pPr>
            <a:r>
              <a:t>2. LUV: +4% nominal, -19% real (!))</a:t>
            </a:r>
          </a:p>
          <a:p>
            <a:pPr lvl="1">
              <a:defRPr sz="1800"/>
            </a:pPr>
            <a:r>
              <a:t>3. KEY: +80% nominal, +40% real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Lesson: Growth stocks crushed inflation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Analysis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Returns Calculation:</a:t>
            </a:r>
          </a:p>
          <a:p>
            <a:pPr lvl="1">
              <a:defRPr sz="1800"/>
            </a:pPr>
            <a:r>
              <a:t>Log returns are time-additive (crucial)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Volatility Understanding:</a:t>
            </a:r>
          </a:p>
          <a:p>
            <a:pPr lvl="1">
              <a:defRPr sz="1800"/>
            </a:pPr>
            <a:r>
              <a:t>Rolling volatility reveals regime changes</a:t>
            </a:r>
          </a:p>
          <a:p>
            <a:pPr lvl="1">
              <a:defRPr sz="1800"/>
            </a:pPr>
            <a:r>
              <a:t>Crisis periods need different management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Inflation Adjustment:</a:t>
            </a:r>
          </a:p>
          <a:p>
            <a:pPr lvl="1">
              <a:defRPr sz="1800"/>
            </a:pPr>
            <a:r>
              <a:t>Real returns show true wealth creation</a:t>
            </a:r>
          </a:p>
          <a:p>
            <a:pPr lvl="1">
              <a:defRPr sz="1800"/>
            </a:pPr>
            <a:r>
              <a:t>Essential for long-term planning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Bar Sampling Innovation:</a:t>
            </a:r>
          </a:p>
          <a:p>
            <a:pPr lvl="1">
              <a:defRPr sz="1800"/>
            </a:pPr>
            <a:r>
              <a:t>Information-driven bars improve signal quality</a:t>
            </a:r>
          </a:p>
          <a:p>
            <a:pPr lvl="1">
              <a:defRPr sz="1800"/>
            </a:pPr>
            <a:r>
              <a:t>Critical for modern algorithmic trading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 Portfolio Construction:</a:t>
            </a:r>
          </a:p>
          <a:p>
            <a:pPr lvl="1">
              <a:defRPr sz="1800"/>
            </a:pPr>
            <a:r>
              <a:t>1. Diversify across volatility profiles</a:t>
            </a:r>
          </a:p>
          <a:p>
            <a:pPr lvl="1">
              <a:defRPr sz="1800"/>
            </a:pPr>
            <a:r>
              <a:t>2. Focus on inflation-beating returns (&gt;5%)</a:t>
            </a:r>
          </a:p>
          <a:p>
            <a:pPr lvl="1">
              <a:defRPr sz="1800"/>
            </a:pPr>
            <a:r>
              <a:t>3. Monitor rolling volatility for timing</a:t>
            </a:r>
          </a:p>
          <a:p>
            <a:pPr lvl="1">
              <a:defRPr sz="1800"/>
            </a:pPr>
            <a:r>
              <a:t>4. Use log returns for time series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Quantitative Strategies:</a:t>
            </a:r>
          </a:p>
          <a:p>
            <a:pPr lvl="1">
              <a:defRPr sz="1800"/>
            </a:pPr>
            <a:r>
              <a:t>1. Use dollar bars for ML features</a:t>
            </a:r>
          </a:p>
          <a:p>
            <a:pPr lvl="1">
              <a:defRPr sz="1800"/>
            </a:pPr>
            <a:r>
              <a:t>2. Calculate returns from info-driven bars</a:t>
            </a:r>
          </a:p>
          <a:p>
            <a:pPr lvl="1">
              <a:defRPr sz="1800"/>
            </a:pPr>
            <a:r>
              <a:t>3. Test on multiple bar types</a:t>
            </a:r>
          </a:p>
          <a:p>
            <a:pPr lvl="1">
              <a:defRPr sz="1800"/>
            </a:pPr>
            <a:r>
              <a:t>4. Validate on inflation-adjusted returns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Mathematical equivalence:</a:t>
            </a:r>
          </a:p>
          <a:p>
            <a:pPr lvl="1">
              <a:defRPr sz="1800"/>
            </a:pPr>
            <a:r>
              <a:t>Simple ≈ Log for daily, but log is superior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Volatility reality:</a:t>
            </a:r>
          </a:p>
          <a:p>
            <a:pPr lvl="1">
              <a:defRPr sz="1800"/>
            </a:pPr>
            <a:r>
              <a:t>Not constant, clusters in crises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Inflation matters:</a:t>
            </a:r>
          </a:p>
          <a:p>
            <a:pPr lvl="1">
              <a:defRPr sz="1800"/>
            </a:pPr>
            <a:r>
              <a:t>Can turn nominal gains into real losses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Growth wins:</a:t>
            </a:r>
          </a:p>
          <a:p>
            <a:pPr lvl="1">
              <a:defRPr sz="1800"/>
            </a:pPr>
            <a:r>
              <a:t>MSFT, LLY, META crushed inflation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Bar innovation:</a:t>
            </a:r>
          </a:p>
          <a:p>
            <a:pPr lvl="1">
              <a:defRPr sz="1800"/>
            </a:pPr>
            <a:r>
              <a:t>Dollar bars &gt;&gt; time bars for modeling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 portfolio analysis requires moving</a:t>
            </a:r>
          </a:p>
          <a:p>
            <a:pPr>
              <a:defRPr sz="1800"/>
            </a:pPr>
            <a:r>
              <a:t>beyond simple price charts.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Understanding:</a:t>
            </a:r>
          </a:p>
          <a:p>
            <a:pPr lvl="1">
              <a:defRPr sz="1800"/>
            </a:pPr>
            <a:r>
              <a:t>• Returns calculation methods</a:t>
            </a:r>
          </a:p>
          <a:p>
            <a:pPr lvl="1">
              <a:defRPr sz="1800"/>
            </a:pPr>
            <a:r>
              <a:t>• Volatility dynamics</a:t>
            </a:r>
          </a:p>
          <a:p>
            <a:pPr lvl="1">
              <a:defRPr sz="1800"/>
            </a:pPr>
            <a:r>
              <a:t>• Inflation impact</a:t>
            </a:r>
          </a:p>
          <a:p>
            <a:pPr lvl="1">
              <a:defRPr sz="1800"/>
            </a:pPr>
            <a:r>
              <a:t>• Advanced sampling methods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...is essential for successful investing</a:t>
            </a:r>
          </a:p>
          <a:p>
            <a:pPr>
              <a:defRPr sz="1800"/>
            </a:pPr>
            <a:r>
              <a:t>in today's markets.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